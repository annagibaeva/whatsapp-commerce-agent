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11827"/>
                </a:solidFill>
                <a:latin typeface="Segoe UI"/>
              </a:rPr>
              <a:t>WhatsApp Commerce Agent — v0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374151"/>
                </a:solidFill>
                <a:latin typeface="Segoe UI"/>
              </a:rPr>
              <a:t>Can an agent be allowed to commit a business's inventory, not just answer questions about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96696"/>
            <a:ext cx="11338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Segoe UI"/>
              </a:rPr>
              <a:t>Anna Gibaeva · v0 shipped, validated on one live WhatsApp thread · 366 tests · CI gates the eval · 9 September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53312"/>
            <a:ext cx="5532120" cy="1261872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72184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Segoe UI"/>
              </a:rPr>
              <a:t>THE USE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719072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Segoe UI"/>
              </a:rPr>
              <a:t>A customer messages a salon. The agent reads the thread, works out the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920240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Segoe UI"/>
              </a:rPr>
              <a:t>service and the time, checks a calendar, and books. No human involved.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121408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Segoe UI"/>
              </a:rPr>
              <a:t>It may hold a slot, book it, or escalate. It cannot cancel, cannot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322576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Segoe UI"/>
              </a:rPr>
              <a:t>reschedule, and cannot move money.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53312"/>
            <a:ext cx="5532120" cy="1261872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72184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Segoe UI"/>
              </a:rPr>
              <a:t>THE BUSINESS CONSTRAINT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719072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Segoe UI"/>
              </a:rPr>
              <a:t>An agent that answers wrongly gives a bad answer. An agent that books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920240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Segoe UI"/>
              </a:rPr>
              <a:t>wrongly creates an obligation the salon must honour or break.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121408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Segoe UI"/>
              </a:rPr>
              <a:t>Webhooks arrive at least once, unordered. A reply window closes 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22576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Segoe UI"/>
              </a:rPr>
              <a:t>24 hours. Meta bills per message.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7432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Segoe UI"/>
              </a:rPr>
              <a:t>ITERATIONS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980944"/>
            <a:ext cx="37033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" y="2980944"/>
            <a:ext cx="3685032" cy="457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127248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Segoe UI"/>
              </a:rPr>
              <a:t>1 · The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1455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>
                <a:solidFill>
                  <a:srgbClr val="059669"/>
                </a:solidFill>
                <a:latin typeface="Segoe UI"/>
              </a:rPr>
              <a:t>SHIPPED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3419856"/>
            <a:ext cx="3401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Segoe UI"/>
              </a:rPr>
              <a:t>Rules as inert data. Six deterministic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3611880"/>
            <a:ext cx="3401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Segoe UI"/>
              </a:rPr>
              <a:t>between a proposal and a commit. Hold with TTL,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3803904"/>
            <a:ext cx="3401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Segoe UI"/>
              </a:rPr>
              <a:t>then idempotent commit, plus a reaper. Twenty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3995928"/>
            <a:ext cx="3401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Segoe UI"/>
              </a:rPr>
              <a:t>hand-labelled cases in five tiers, gate on and off.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5112" y="2980944"/>
            <a:ext cx="37033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34256" y="2980944"/>
            <a:ext cx="3685032" cy="457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9704" y="3127248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Segoe UI"/>
              </a:rPr>
              <a:t>2 · The live thread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6872" y="31455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>
                <a:solidFill>
                  <a:srgbClr val="059669"/>
                </a:solidFill>
                <a:latin typeface="Segoe UI"/>
              </a:rPr>
              <a:t>SHIPPED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3419856"/>
            <a:ext cx="3401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Segoe UI"/>
              </a:rPr>
              <a:t>HMAC over raw bytes. Tool loop against a real model,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9704" y="3611880"/>
            <a:ext cx="3401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Segoe UI"/>
              </a:rPr>
              <a:t>capped at 8. Two asks per fact then escalate 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3803904"/>
            <a:ext cx="3401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Segoe UI"/>
              </a:rPr>
              <a:t>prompts fail, counters do not. Slots go out as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3995928"/>
            <a:ext cx="3401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Segoe UI"/>
              </a:rPr>
              <a:t>tappable list. n8n polls for the 24-hour reminder.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38744" y="2980944"/>
            <a:ext cx="37033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47888" y="2980944"/>
            <a:ext cx="3685032" cy="45720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03336" y="3127248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Segoe UI"/>
              </a:rPr>
              <a:t>3 · Durable state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90504" y="31455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>
                <a:solidFill>
                  <a:srgbClr val="9CA3AF"/>
                </a:solidFill>
                <a:latin typeface="Segoe UI"/>
              </a:rPr>
              <a:t>PLANNED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336" y="3419856"/>
            <a:ext cx="3401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Everything lives in one process's memory and 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3336" y="3611880"/>
            <a:ext cx="3401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lost on restart. SQLite behind the same interfaces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3336" y="3803904"/>
            <a:ext cx="3401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first, then a real calendar, reschedule and cancel,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3336" y="3995928"/>
            <a:ext cx="34015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then a Flow booking screen. 36 tasks, six phases.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4590288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Segoe UI"/>
              </a:rPr>
              <a:t>MEASURED — 21 cases, run with the gate on and again with it off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4828032"/>
            <a:ext cx="2194560" cy="102412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93776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0 vs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53949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E5E7EB"/>
                </a:solidFill>
                <a:latin typeface="Segoe UI"/>
              </a:rPr>
              <a:t>bad bookings, gate on vs off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55961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Segoe UI"/>
              </a:rPr>
              <a:t>the whole argument, in one number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24912" y="4828032"/>
            <a:ext cx="21945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24912" y="493776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11827"/>
                </a:solidFill>
                <a:latin typeface="Segoe UI"/>
              </a:rPr>
              <a:t>6/6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24912" y="53949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374151"/>
                </a:solidFill>
                <a:latin typeface="Segoe UI"/>
              </a:rPr>
              <a:t>booking rate · target ≥80%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24912" y="55961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</a:rPr>
              <a:t>of the cases meant to be booked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38344" y="4828032"/>
            <a:ext cx="21945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38344" y="493776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11827"/>
                </a:solidFill>
                <a:latin typeface="Segoe UI"/>
              </a:rPr>
              <a:t>4/4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38344" y="53949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374151"/>
                </a:solidFill>
                <a:latin typeface="Segoe UI"/>
              </a:rPr>
              <a:t>escalation precision · ≥85%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38344" y="55961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</a:rPr>
              <a:t>the counter-metric to bad bookings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51775" y="4828032"/>
            <a:ext cx="21945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51775" y="493776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11827"/>
                </a:solidFill>
                <a:latin typeface="Segoe UI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51775" y="53949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374151"/>
                </a:solidFill>
                <a:latin typeface="Segoe UI"/>
              </a:rPr>
              <a:t>cost of control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51775" y="55961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Segoe UI"/>
              </a:rPr>
              <a:t>good bookings the gate blocked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65207" y="4828032"/>
            <a:ext cx="2194560" cy="1024128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65207" y="493776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92400E"/>
                </a:solidFill>
                <a:latin typeface="Segoe UI"/>
              </a:rPr>
              <a:t>~$0.04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65207" y="53949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78350F"/>
                </a:solidFill>
                <a:latin typeface="Segoe UI"/>
              </a:rPr>
              <a:t>model cost per booking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65207" y="55961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45309"/>
                </a:solidFill>
                <a:latin typeface="Segoe UI"/>
              </a:rPr>
              <a:t>PROJECTED — not measured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" y="5998464"/>
            <a:ext cx="11338560" cy="7315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6928" y="607161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Segoe UI"/>
              </a:rPr>
              <a:t>OPEN — carried into v1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6272784"/>
            <a:ext cx="11064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Segoe UI"/>
              </a:rPr>
              <a:t>The model is not the bill. A booking is ~10 messages; messaging overtakes model cost above ~$0.0037 each. Turn count is the lever, not tokens.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6428232"/>
            <a:ext cx="11064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Segoe UI"/>
              </a:rPr>
              <a:t>Escalation is a dead end. A ticket reaches a human and the thread never returns to the agent — paid for twice, in messages and in staff time.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6583680"/>
            <a:ext cx="11064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Segoe UI"/>
              </a:rPr>
              <a:t>Cost of control is 0 across four bookable cases. A1 unvalidated: no salon has confirmed the 48-hour patch test, and three checks depend on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11827"/>
                </a:solidFill>
                <a:latin typeface="Segoe UI"/>
              </a:rPr>
              <a:t>WhatsApp Commerce Agent — v0 runtime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Segoe UI"/>
              </a:rPr>
              <a:t>Every model call and every deterministic step is its own node. The gate is the only one with no model behind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0584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Segoe UI"/>
              </a:rPr>
              <a:t>INBOUND — TRUST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16152"/>
            <a:ext cx="1234440" cy="5669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11827"/>
                </a:solidFill>
                <a:latin typeface="Segoe UI"/>
              </a:rPr>
              <a:t>WhatsApp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3619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Segoe UI"/>
              </a:rPr>
              <a:t>Cloud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1216152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1325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11827"/>
                </a:solidFill>
                <a:latin typeface="Segoe UI"/>
              </a:rPr>
              <a:t>HMAC-SHA256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53619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2400E"/>
                </a:solidFill>
                <a:latin typeface="Segoe UI"/>
              </a:rPr>
              <a:t>raw bytes, before parsing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216152"/>
            <a:ext cx="1463040" cy="5669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3258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11827"/>
                </a:solidFill>
                <a:latin typeface="Segoe UI"/>
              </a:rPr>
              <a:t>per-thread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53619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Segoe UI"/>
              </a:rPr>
              <a:t>dedup inside the job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1216152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32588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11827"/>
                </a:solidFill>
                <a:latin typeface="Segoe UI"/>
              </a:rPr>
              <a:t>fact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15361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E40AF"/>
                </a:solidFill>
                <a:latin typeface="Segoe UI"/>
              </a:rPr>
              <a:t>MODEL · haiku → opus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1216152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32588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11827"/>
                </a:solidFill>
                <a:latin typeface="Segoe UI"/>
              </a:rPr>
              <a:t>agent turn · 4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53619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E40AF"/>
                </a:solidFill>
                <a:latin typeface="Segoe UI"/>
              </a:rPr>
              <a:t>MODEL · haiku · ≤8 loops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170432"/>
            <a:ext cx="28346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280160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11827"/>
                </a:solidFill>
                <a:latin typeface="Segoe UI"/>
              </a:rPr>
              <a:t>read-only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49047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Segoe UI"/>
              </a:rPr>
              <a:t>search_catalogue · check_availability · mutate nothing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59689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Segoe UI"/>
              </a:rPr>
              <a:t>DECIDE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2816352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292608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11827"/>
                </a:solidFill>
                <a:latin typeface="Segoe UI"/>
              </a:rPr>
              <a:t>propose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136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Segoe UI"/>
              </a:rPr>
              <a:t>cites rules, in code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63240" y="2816352"/>
            <a:ext cx="1371600" cy="5669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292608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11827"/>
                </a:solidFill>
                <a:latin typeface="Segoe UI"/>
              </a:rPr>
              <a:t>hold slot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313639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Segoe UI"/>
              </a:rPr>
              <a:t>TTL lease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2468880"/>
            <a:ext cx="4023360" cy="138988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2587752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THE GATE — no model 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6048" y="292608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Segoe UI"/>
              </a:rPr>
              <a:t>1  cited rules exist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92608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Segoe UI"/>
              </a:rPr>
              <a:t>4  booking cites a rule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6048" y="313639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Segoe UI"/>
              </a:rPr>
              <a:t>2  facts support them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13639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Segoe UI"/>
              </a:rPr>
              <a:t>5  slot still free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6048" y="334670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Segoe UI"/>
              </a:rPr>
              <a:t>3  no more-specific rule missed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334670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Segoe UI"/>
              </a:rPr>
              <a:t>6  escalation deliverable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3593592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Segoe UI"/>
              </a:rPr>
              <a:t>pure function · can only block · never supplies an answer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459028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Segoe UI"/>
              </a:rPr>
              <a:t>COMMIT / REFUSE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80160" y="4809744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491947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11827"/>
                </a:solidFill>
                <a:latin typeface="Segoe UI"/>
              </a:rPr>
              <a:t>audit record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5129783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Segoe UI"/>
              </a:rPr>
              <a:t>rule_id@version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63240" y="4809744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63240" y="491947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65F46"/>
                </a:solidFill>
                <a:latin typeface="Segoe UI"/>
              </a:rPr>
              <a:t>commit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63240" y="5129783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047857"/>
                </a:solidFill>
                <a:latin typeface="Segoe UI"/>
              </a:rPr>
              <a:t>idempotency key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46320" y="4809744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0" y="491947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11827"/>
                </a:solidFill>
                <a:latin typeface="Segoe UI"/>
              </a:rPr>
              <a:t>release hold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5129783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Segoe UI"/>
              </a:rPr>
              <a:t>mistake undone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29400" y="4809744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491947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7F1D1D"/>
                </a:solidFill>
                <a:latin typeface="Segoe UI"/>
              </a:rPr>
              <a:t>escalate to human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5129783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B91C1C"/>
                </a:solidFill>
                <a:latin typeface="Segoe UI"/>
              </a:rPr>
              <a:t>terminal — no path back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95360" y="4681728"/>
            <a:ext cx="3154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0" y="4782312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65F46"/>
                </a:solidFill>
                <a:latin typeface="Segoe UI"/>
              </a:rPr>
              <a:t>eval harness · CI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5001768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374151"/>
                </a:solidFill>
                <a:latin typeface="Segoe UI"/>
              </a:rPr>
              <a:t>20 cases, gate on and off · blocks the build both ways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5202936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  <a:latin typeface="Segoe UI"/>
              </a:rPr>
              <a:t>0 bad bookings · 6 with the gate off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86200" y="404164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  <a:latin typeface="Segoe UI"/>
              </a:rPr>
              <a:t>PASS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404164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Segoe UI"/>
              </a:rPr>
              <a:t>BLOCK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15400" y="2240280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2563EB"/>
                </a:solidFill>
                <a:latin typeface="Segoe UI"/>
              </a:rPr>
              <a:t>BLOCK reason returned to the model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11480" y="5779008"/>
            <a:ext cx="11338560" cy="804672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" y="5897880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Segoe UI"/>
              </a:rPr>
              <a:t>Reaper releases expired holds. n8n polls /reminders/due and /reminders/sent for the 24-hour reminder — it is never called by us.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6080760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Segoe UI"/>
              </a:rPr>
              <a:t>The gate reads no cost, calls no model, and has no field for a corrected booking. A block is the only thing it can produce.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263640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Segoe UI"/>
              </a:rPr>
              <a:t>A block never escalates by itself. The model decides — and escalate is itself gated on whether a human could still reply in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